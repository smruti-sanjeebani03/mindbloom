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Bricolage Grotesque SemiBold" panose="020B0604020202020204" charset="0"/>
      <p:regular r:id="rId15"/>
      <p:bold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Nunito Medium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Testing </a:t>
            </a:r>
            <a:endParaRPr/>
          </a:p>
        </p:txBody>
      </p:sp>
      <p:sp>
        <p:nvSpPr>
          <p:cNvPr id="17" name="Google Shape;1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ad880a78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6ad880a78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f6ad880a78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99761f91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99761f914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f99761f914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6ad880a78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6ad880a78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f6ad880a78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2071065" y="1068513"/>
            <a:ext cx="47250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700"/>
              <a:buFont typeface="Bricolage Grotesque SemiBold"/>
              <a:buNone/>
            </a:pPr>
            <a:r>
              <a:rPr lang="en-US" sz="37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MindBloom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661475" y="1942703"/>
            <a:ext cx="6296860" cy="326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5100"/>
              <a:buFont typeface="Bricolage Grotesque SemiBold"/>
              <a:buNone/>
            </a:pPr>
            <a:r>
              <a:rPr lang="en-US" sz="51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An AI-Powered Platform for Mental Health &amp; Emotional Well-Being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661475" y="5486896"/>
            <a:ext cx="6906444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AI Chat Support · Mood Tracking · Journaling · Peer Stories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4"/>
          <p:cNvCxnSpPr/>
          <p:nvPr/>
        </p:nvCxnSpPr>
        <p:spPr>
          <a:xfrm>
            <a:off x="7287050" y="1659225"/>
            <a:ext cx="0" cy="4590900"/>
          </a:xfrm>
          <a:prstGeom prst="straightConnector1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4"/>
          <p:cNvSpPr txBox="1"/>
          <p:nvPr/>
        </p:nvSpPr>
        <p:spPr>
          <a:xfrm>
            <a:off x="7787600" y="3240200"/>
            <a:ext cx="4311900" cy="2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unito Medium"/>
                <a:ea typeface="Nunito Medium"/>
                <a:cs typeface="Nunito Medium"/>
                <a:sym typeface="Nunito Medium"/>
              </a:rPr>
              <a:t>Presented by: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unito Medium"/>
                <a:ea typeface="Nunito Medium"/>
                <a:cs typeface="Nunito Medium"/>
                <a:sym typeface="Nunito Medium"/>
              </a:rPr>
              <a:t>Sayan Biswas: 25C202A21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unito Medium"/>
                <a:ea typeface="Nunito Medium"/>
                <a:cs typeface="Nunito Medium"/>
                <a:sym typeface="Nunito Medium"/>
              </a:rPr>
              <a:t>Smruti Sanjeebani: 25C219A32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unito Medium"/>
                <a:ea typeface="Nunito Medium"/>
                <a:cs typeface="Nunito Medium"/>
                <a:sym typeface="Nunito Medium"/>
              </a:rPr>
              <a:t>Sharmistha Panda: 25C216A12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unito Medium"/>
                <a:ea typeface="Nunito Medium"/>
                <a:cs typeface="Nunito Medium"/>
                <a:sym typeface="Nunito Medium"/>
              </a:rPr>
              <a:t>Shreeja Sayena: 25C219A34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6901" y="399825"/>
            <a:ext cx="2579300" cy="228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472" y="712200"/>
            <a:ext cx="1303349" cy="130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661475" y="1305818"/>
            <a:ext cx="10868745" cy="5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300"/>
              <a:buFont typeface="Bricolage Grotesque SemiBold"/>
              <a:buNone/>
            </a:pPr>
            <a:r>
              <a:rPr lang="en-US" sz="33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What We'll Cover Today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61475" y="2143621"/>
            <a:ext cx="11478330" cy="25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 structured walkthrough of MindBloom — from the problem we're solving to the technology behind it and where we're headed next.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425" y="2555379"/>
            <a:ext cx="3514439" cy="912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869631" y="2574429"/>
            <a:ext cx="3287233" cy="26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Bricolage Grotesque SemiBold"/>
              <a:buNone/>
            </a:pPr>
            <a:r>
              <a:rPr lang="en-US" sz="16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Problem Statement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69631" y="2931914"/>
            <a:ext cx="3287233" cy="51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Why current mental health tools fall short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9103" y="2555379"/>
            <a:ext cx="3514439" cy="912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/>
        </p:nvSpPr>
        <p:spPr>
          <a:xfrm>
            <a:off x="4556309" y="2574429"/>
            <a:ext cx="3287233" cy="26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Bricolage Grotesque SemiBold"/>
              <a:buNone/>
            </a:pPr>
            <a:r>
              <a:rPr lang="en-US" sz="16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Scope of Innovation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556309" y="2931914"/>
            <a:ext cx="3287233" cy="25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What makes MindBloom different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5782" y="2555379"/>
            <a:ext cx="3514439" cy="912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8242987" y="2574429"/>
            <a:ext cx="3287233" cy="26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Bricolage Grotesque SemiBold"/>
              <a:buNone/>
            </a:pPr>
            <a:r>
              <a:rPr lang="en-US" sz="16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Tools &amp; Technologies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8242987" y="2931914"/>
            <a:ext cx="3287233" cy="25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The stack powering MindBloom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425" y="3736181"/>
            <a:ext cx="3514439" cy="912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869631" y="3755231"/>
            <a:ext cx="3287233" cy="26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Bricolage Grotesque SemiBold"/>
              <a:buNone/>
            </a:pPr>
            <a:r>
              <a:rPr lang="en-US" sz="16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Recommendation System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69631" y="4112716"/>
            <a:ext cx="3287233" cy="51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Curated content that surfaces at the right time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9103" y="3736181"/>
            <a:ext cx="3514439" cy="912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4556309" y="3755231"/>
            <a:ext cx="3287233" cy="26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Bricolage Grotesque SemiBold"/>
              <a:buNone/>
            </a:pPr>
            <a:r>
              <a:rPr lang="en-US" sz="16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Architecture Diagram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56309" y="4112716"/>
            <a:ext cx="3287233" cy="25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How the pieces fit together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5782" y="3736181"/>
            <a:ext cx="3514439" cy="9127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8242987" y="3755231"/>
            <a:ext cx="3287233" cy="26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Bricolage Grotesque SemiBold"/>
              <a:buNone/>
            </a:pPr>
            <a:r>
              <a:rPr lang="en-US" sz="16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Scope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242987" y="4112716"/>
            <a:ext cx="3287233" cy="25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Where MindBloom grows next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425" y="4916984"/>
            <a:ext cx="10887795" cy="65414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869631" y="4936034"/>
            <a:ext cx="10660590" cy="26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Bricolage Grotesque SemiBold"/>
              <a:buNone/>
            </a:pPr>
            <a:r>
              <a:rPr lang="en-US" sz="16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Conclusion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69631" y="5293519"/>
            <a:ext cx="10660590" cy="25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Key takeaways and vision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l" t="t" r="r" b="b"/>
            <a:pathLst>
              <a:path w="100000" h="100000" extrusionOk="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5233360" y="792163"/>
            <a:ext cx="6296860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950"/>
              <a:buFont typeface="Bricolage Grotesque SemiBold"/>
              <a:buNone/>
            </a:pPr>
            <a:r>
              <a:rPr lang="en-US" sz="29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Problem Statement</a:t>
            </a:r>
            <a:endParaRPr sz="2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233360" y="1446014"/>
            <a:ext cx="6906444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Why current mental health tools fall short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3360" y="1799729"/>
            <a:ext cx="6296860" cy="108465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5479814" y="1969988"/>
            <a:ext cx="5880151" cy="23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Bricolage Grotesque SemiBold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Expensive &amp; Stigmatized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479814" y="2278757"/>
            <a:ext cx="5880151" cy="43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Mental health support is often costly, stigmatized, or difficult to access on demand.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3360" y="3005336"/>
            <a:ext cx="6296860" cy="86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5479814" y="3175595"/>
            <a:ext cx="5880151" cy="23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Bricolage Grotesque SemiBold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Fragmented Features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479814" y="3484364"/>
            <a:ext cx="5880151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Existing apps focus on a single feature — only mood tracking, or only meditation.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3360" y="3993257"/>
            <a:ext cx="6296860" cy="86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/>
          <p:nvPr/>
        </p:nvSpPr>
        <p:spPr>
          <a:xfrm>
            <a:off x="5479814" y="4163516"/>
            <a:ext cx="5880151" cy="23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Bricolage Grotesque SemiBold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No Private Space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79814" y="4472285"/>
            <a:ext cx="5880151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Users lack a safe, private space to reflect, express emotions, and get instant help.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3360" y="4981178"/>
            <a:ext cx="6296860" cy="108465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5479814" y="5151438"/>
            <a:ext cx="5880151" cy="23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Bricolage Grotesque SemiBold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No Unified Platform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479814" y="5460206"/>
            <a:ext cx="5880151" cy="43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No single platform combines AI chat support, self-reflection, and peer stories together.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661475" y="56792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700"/>
              <a:buFont typeface="Bricolage Grotesque SemiBold"/>
              <a:buNone/>
            </a:pPr>
            <a:r>
              <a:rPr lang="en-US" sz="37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Scope of Innovation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61475" y="1536601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What makes MindBloom different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205164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661475" y="2665909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850"/>
              <a:buFont typeface="Bricolage Grotesque SemiBold"/>
              <a:buNone/>
            </a:pPr>
            <a:r>
              <a:rPr lang="en-US" sz="18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All-in-One Platform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61475" y="3074591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Combines AI chatbot support, mood tracking, journaling, and community storytelling in one place.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3135" y="205164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/>
          <p:nvPr/>
        </p:nvSpPr>
        <p:spPr>
          <a:xfrm>
            <a:off x="4363135" y="2665909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850"/>
              <a:buFont typeface="Bricolage Grotesque SemiBold"/>
              <a:buNone/>
            </a:pPr>
            <a:r>
              <a:rPr lang="en-US" sz="18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Real-Time Empathetic AI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363135" y="3074591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Uses Google Gemini AI for real-time, empathetic conversations through BloomBot.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794" y="205164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064794" y="2665909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850"/>
              <a:buFont typeface="Bricolage Grotesque SemiBold"/>
              <a:buNone/>
            </a:pPr>
            <a:r>
              <a:rPr lang="en-US" sz="18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Anonymous Storytelling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064794" y="3074591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Enables anonymous story sharing to encourage open expression without fear of judgment.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475" y="4359870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661475" y="4974134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850"/>
              <a:buFont typeface="Bricolage Grotesque SemiBold"/>
              <a:buNone/>
            </a:pPr>
            <a:r>
              <a:rPr lang="en-US" sz="18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Curated, Safe Content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61475" y="5382816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Admin-managed daily quotes and affirmations ensure curated, safe content — not AI-generated.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63135" y="4359870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4363135" y="4974134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850"/>
              <a:buFont typeface="Bricolage Grotesque SemiBold"/>
              <a:buNone/>
            </a:pPr>
            <a:r>
              <a:rPr lang="en-US" sz="18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Privacy by Design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363135" y="5382816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Designed with privacy in mind — no permanent chatbot chat history is stored.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661475" y="547985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500"/>
              <a:buFont typeface="Bricolage Grotesque SemiBold"/>
              <a:buNone/>
            </a:pPr>
            <a:r>
              <a:rPr lang="en-US" sz="35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Tools &amp; Technologies Used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61475" y="1450280"/>
            <a:ext cx="11478330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The full stack powering MindBloom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1922264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/>
          <p:nvPr/>
        </p:nvSpPr>
        <p:spPr>
          <a:xfrm>
            <a:off x="661475" y="2494558"/>
            <a:ext cx="348070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Frontend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61475" y="2877344"/>
            <a:ext cx="3480705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React.js, Tailwind CSS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5396" y="1922264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/>
          <p:nvPr/>
        </p:nvSpPr>
        <p:spPr>
          <a:xfrm>
            <a:off x="4355396" y="2494558"/>
            <a:ext cx="3480804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Backend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355396" y="2877344"/>
            <a:ext cx="3480804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Django, Django REST Framework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9416" y="1922264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8049416" y="2494558"/>
            <a:ext cx="3480804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Database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8049416" y="2877344"/>
            <a:ext cx="3480804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475" y="3498552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/>
          <p:nvPr/>
        </p:nvSpPr>
        <p:spPr>
          <a:xfrm>
            <a:off x="661475" y="4070846"/>
            <a:ext cx="348070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Authentication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61475" y="4453632"/>
            <a:ext cx="3480705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JWT Authentication, Google OAuth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55396" y="3498552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/>
          <p:nvPr/>
        </p:nvSpPr>
        <p:spPr>
          <a:xfrm>
            <a:off x="4355396" y="4070846"/>
            <a:ext cx="3480804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AI Engine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355396" y="4453632"/>
            <a:ext cx="3480804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Google Gemini 2.5 API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9416" y="3498552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/>
          <p:nvPr/>
        </p:nvSpPr>
        <p:spPr>
          <a:xfrm>
            <a:off x="8049416" y="4070846"/>
            <a:ext cx="3480804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Development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8049416" y="4453632"/>
            <a:ext cx="3480804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Visual Studio Code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1475" y="5074841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661475" y="5647134"/>
            <a:ext cx="348070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Version Control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61475" y="6029920"/>
            <a:ext cx="3480705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Git, GitHub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55396" y="5074841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/>
          <p:nvPr/>
        </p:nvSpPr>
        <p:spPr>
          <a:xfrm>
            <a:off x="4355396" y="5647134"/>
            <a:ext cx="3480804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Payment Integration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355396" y="6029920"/>
            <a:ext cx="3480804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Razorpay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49416" y="5074841"/>
            <a:ext cx="359064" cy="35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/>
          <p:nvPr/>
        </p:nvSpPr>
        <p:spPr>
          <a:xfrm>
            <a:off x="8049416" y="5647134"/>
            <a:ext cx="3480804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Bricolage Grotesque SemiBold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Deployment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8049416" y="6029920"/>
            <a:ext cx="3480804" cy="28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Vercel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661475" y="89941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700"/>
              <a:buFont typeface="Bricolage Grotesque SemiBold"/>
              <a:buNone/>
            </a:pPr>
            <a:r>
              <a:rPr lang="en-US" sz="37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Recommendation System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61475" y="1868091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Curated content that surfaces the right thing at the right time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61475" y="2383135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856832" y="2578497"/>
            <a:ext cx="3106164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850"/>
              <a:buFont typeface="Bricolage Grotesque SemiBold"/>
              <a:buNone/>
            </a:pPr>
            <a:r>
              <a:rPr lang="en-US" sz="18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Daily Quotes &amp; Affirmations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56832" y="3282454"/>
            <a:ext cx="3106164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Suggests relevant daily quotes and affirmations based on admin-curated content.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347359" y="2383135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4542716" y="2578497"/>
            <a:ext cx="3106164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850"/>
              <a:buFont typeface="Bricolage Grotesque SemiBold"/>
              <a:buNone/>
            </a:pPr>
            <a:r>
              <a:rPr lang="en-US" sz="18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Mood &amp; Reflection Summaries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42716" y="3282454"/>
            <a:ext cx="3106164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Highlights recent mood and reflection summaries on the dashboard for quick self-awareness.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033244" y="2383135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8228600" y="2578497"/>
            <a:ext cx="3106164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850"/>
              <a:buFont typeface="Bricolage Grotesque SemiBold"/>
              <a:buNone/>
            </a:pPr>
            <a:r>
              <a:rPr lang="en-US" sz="18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Community Story Surfacing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228600" y="3282454"/>
            <a:ext cx="3106164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Surfaces community stories to encourage engagement and peer support.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61475" y="490011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8EC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7" name="Google Shape;14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482" y="5167809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/>
          <p:nvPr/>
        </p:nvSpPr>
        <p:spPr>
          <a:xfrm>
            <a:off x="1275723" y="5136356"/>
            <a:ext cx="1006549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Currently rule/content-based, not a personalized ML-driven recommendation engine — this is planned as a future enhancement.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552625" y="519442"/>
            <a:ext cx="10868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400"/>
              <a:buFont typeface="Bricolage Grotesque SemiBold"/>
              <a:buNone/>
            </a:pPr>
            <a:r>
              <a:rPr lang="en-US" sz="24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Architecture Diagram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61475" y="1121697"/>
            <a:ext cx="114783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950"/>
              <a:buFont typeface="Inter"/>
              <a:buNone/>
            </a:pPr>
            <a:r>
              <a:rPr lang="en-US" sz="2000" b="1" u="sng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ER Diagram-</a:t>
            </a:r>
            <a:endParaRPr sz="20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375" y="1121700"/>
            <a:ext cx="8496799" cy="56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/>
        </p:nvSpPr>
        <p:spPr>
          <a:xfrm>
            <a:off x="415925" y="276225"/>
            <a:ext cx="73185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Data Flow Diagram (Level- 0 DFD)</a:t>
            </a:r>
            <a:endParaRPr sz="2000" b="1"/>
          </a:p>
        </p:txBody>
      </p:sp>
      <p:pic>
        <p:nvPicPr>
          <p:cNvPr id="163" name="Google Shape;16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600" y="1046075"/>
            <a:ext cx="8582062" cy="572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11"/>
          <p:cNvCxnSpPr/>
          <p:nvPr/>
        </p:nvCxnSpPr>
        <p:spPr>
          <a:xfrm>
            <a:off x="354075" y="347325"/>
            <a:ext cx="0" cy="413400"/>
          </a:xfrm>
          <a:prstGeom prst="straightConnector1">
            <a:avLst/>
          </a:prstGeom>
          <a:noFill/>
          <a:ln w="7620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/>
        </p:nvSpPr>
        <p:spPr>
          <a:xfrm>
            <a:off x="521775" y="262300"/>
            <a:ext cx="47625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Data Flow Diagram (Level- 1 DFD)</a:t>
            </a:r>
            <a:endParaRPr sz="1900" b="1"/>
          </a:p>
        </p:txBody>
      </p:sp>
      <p:pic>
        <p:nvPicPr>
          <p:cNvPr id="171" name="Google Shape;171;p12" title="DFD-1 MINDBLOOM.jpg (1).jpeg"/>
          <p:cNvPicPr preferRelativeResize="0"/>
          <p:nvPr/>
        </p:nvPicPr>
        <p:blipFill rotWithShape="1">
          <a:blip r:embed="rId3">
            <a:alphaModFix/>
          </a:blip>
          <a:srcRect t="18214" b="42405"/>
          <a:stretch/>
        </p:blipFill>
        <p:spPr>
          <a:xfrm>
            <a:off x="1153275" y="1103525"/>
            <a:ext cx="9386099" cy="5567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2"/>
          <p:cNvCxnSpPr/>
          <p:nvPr/>
        </p:nvCxnSpPr>
        <p:spPr>
          <a:xfrm>
            <a:off x="366475" y="311781"/>
            <a:ext cx="0" cy="413400"/>
          </a:xfrm>
          <a:prstGeom prst="straightConnector1">
            <a:avLst/>
          </a:prstGeom>
          <a:noFill/>
          <a:ln w="7620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661475" y="620514"/>
            <a:ext cx="10868745" cy="38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400"/>
              <a:buFont typeface="Bricolage Grotesque SemiBold"/>
              <a:buNone/>
            </a:pPr>
            <a:r>
              <a:rPr lang="en-US" sz="24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Scope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661475" y="1164134"/>
            <a:ext cx="11478330" cy="1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Where MindBloom grows next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1416050"/>
            <a:ext cx="10868745" cy="73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4586" y="1692473"/>
            <a:ext cx="184245" cy="18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/>
          <p:nvPr/>
        </p:nvSpPr>
        <p:spPr>
          <a:xfrm>
            <a:off x="1245363" y="1551583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00"/>
              <a:buFont typeface="Bricolage Grotesque SemiBold"/>
              <a:buNone/>
            </a:pPr>
            <a:r>
              <a:rPr lang="en-US" sz="12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Premium Subscriptions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1245363" y="1791395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Full Razorpay integration for premium subscription features.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2232918"/>
            <a:ext cx="10868745" cy="73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4586" y="2509341"/>
            <a:ext cx="184245" cy="18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/>
          <p:cNvSpPr/>
          <p:nvPr/>
        </p:nvSpPr>
        <p:spPr>
          <a:xfrm>
            <a:off x="1245363" y="2368451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00"/>
              <a:buFont typeface="Bricolage Grotesque SemiBold"/>
              <a:buNone/>
            </a:pPr>
            <a:r>
              <a:rPr lang="en-US" sz="12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Mobile Apps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1245363" y="2608262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Mobile app version (Android/iOS) for wider accessibility.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3049786"/>
            <a:ext cx="10868745" cy="73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4586" y="3326209"/>
            <a:ext cx="184245" cy="18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/>
          <p:nvPr/>
        </p:nvSpPr>
        <p:spPr>
          <a:xfrm>
            <a:off x="1245363" y="3185319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00"/>
              <a:buFont typeface="Bricolage Grotesque SemiBold"/>
              <a:buNone/>
            </a:pPr>
            <a:r>
              <a:rPr lang="en-US" sz="12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AI-Personalized Recommendations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1245363" y="3425130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ML-driven suggestions mapping moods to reflections, quotes, or coping activities.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3866654"/>
            <a:ext cx="10868745" cy="73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4586" y="4143077"/>
            <a:ext cx="184245" cy="18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3"/>
          <p:cNvSpPr/>
          <p:nvPr/>
        </p:nvSpPr>
        <p:spPr>
          <a:xfrm>
            <a:off x="1245363" y="4002187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00"/>
              <a:buFont typeface="Bricolage Grotesque SemiBold"/>
              <a:buNone/>
            </a:pPr>
            <a:r>
              <a:rPr lang="en-US" sz="12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Advanced Admin Analytics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1245363" y="4241998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Engagement trends and mood pattern insights for admins.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4683522"/>
            <a:ext cx="10868745" cy="73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4586" y="4959945"/>
            <a:ext cx="184245" cy="18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/>
          <p:nvPr/>
        </p:nvSpPr>
        <p:spPr>
          <a:xfrm>
            <a:off x="1245363" y="4819055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00"/>
              <a:buFont typeface="Bricolage Grotesque SemiBold"/>
              <a:buNone/>
            </a:pPr>
            <a:r>
              <a:rPr lang="en-US" sz="12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Multi-Language Support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1245363" y="5058866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Reach a broader, more diverse user base.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5500390"/>
            <a:ext cx="10868745" cy="73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4586" y="5776813"/>
            <a:ext cx="184245" cy="18424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/>
          <p:nvPr/>
        </p:nvSpPr>
        <p:spPr>
          <a:xfrm>
            <a:off x="1245363" y="5635923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00"/>
              <a:buFont typeface="Bricolage Grotesque SemiBold"/>
              <a:buNone/>
            </a:pPr>
            <a:r>
              <a:rPr lang="en-US" sz="120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Professional Escalation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1245363" y="5875734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Optional integration with professional therapists and counselors for escalation support.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/>
          <p:nvPr/>
        </p:nvSpPr>
        <p:spPr>
          <a:xfrm>
            <a:off x="661475" y="700088"/>
            <a:ext cx="6296860" cy="50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150"/>
              <a:buFont typeface="Bricolage Grotesque SemiBold"/>
              <a:buNone/>
            </a:pPr>
            <a:r>
              <a:rPr lang="en-US" sz="31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Conclusion</a:t>
            </a:r>
            <a:endParaRPr sz="3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699" y="1411833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/>
          <p:nvPr/>
        </p:nvSpPr>
        <p:spPr>
          <a:xfrm>
            <a:off x="1183551" y="1406922"/>
            <a:ext cx="5774784" cy="25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550"/>
              <a:buFont typeface="Bricolage Grotesque SemiBold"/>
              <a:buNone/>
            </a:pPr>
            <a:r>
              <a:rPr lang="en-US" sz="15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Accessible, Private &amp; Integrated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1183551" y="1739801"/>
            <a:ext cx="5774784" cy="47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50"/>
              <a:buFont typeface="Inter"/>
              <a:buNone/>
            </a:pPr>
            <a:r>
              <a:rPr lang="en-US" sz="12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MindBloom offers an accessible, private, and integrated platform for emotional well-being.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699" y="2493218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/>
          <p:nvPr/>
        </p:nvSpPr>
        <p:spPr>
          <a:xfrm>
            <a:off x="1183551" y="2488307"/>
            <a:ext cx="5774784" cy="25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550"/>
              <a:buFont typeface="Bricolage Grotesque SemiBold"/>
              <a:buNone/>
            </a:pPr>
            <a:r>
              <a:rPr lang="en-US" sz="15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Unified in One System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1183551" y="2821186"/>
            <a:ext cx="5774784" cy="47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50"/>
              <a:buFont typeface="Inter"/>
              <a:buNone/>
            </a:pPr>
            <a:r>
              <a:rPr lang="en-US" sz="12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Combines AI assistance, self-reflection tools, and community support in a single system.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699" y="3574604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4"/>
          <p:cNvSpPr/>
          <p:nvPr/>
        </p:nvSpPr>
        <p:spPr>
          <a:xfrm>
            <a:off x="1183551" y="3569692"/>
            <a:ext cx="5774784" cy="25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550"/>
              <a:buFont typeface="Bricolage Grotesque SemiBold"/>
              <a:buNone/>
            </a:pPr>
            <a:r>
              <a:rPr lang="en-US" sz="15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Built to Scale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183551" y="3902571"/>
            <a:ext cx="5774784" cy="47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50"/>
              <a:buFont typeface="Inter"/>
              <a:buNone/>
            </a:pPr>
            <a:r>
              <a:rPr lang="en-US" sz="12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Built on a scalable tech stack (React, Django, PostgreSQL) suitable for future growth.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699" y="4655989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4"/>
          <p:cNvSpPr/>
          <p:nvPr/>
        </p:nvSpPr>
        <p:spPr>
          <a:xfrm>
            <a:off x="1183551" y="4651077"/>
            <a:ext cx="5774784" cy="25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550"/>
              <a:buFont typeface="Bricolage Grotesque SemiBold"/>
              <a:buNone/>
            </a:pPr>
            <a:r>
              <a:rPr lang="en-US" sz="1550" b="0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 Supportive First Step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1183551" y="4983956"/>
            <a:ext cx="5774784" cy="47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50"/>
              <a:buFont typeface="Inter"/>
              <a:buNone/>
            </a:pPr>
            <a:r>
              <a:rPr lang="en-US" sz="12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 self-help and peer-support tool — a supportive first step, not a replacement for professional therapy.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902471" y="5766594"/>
            <a:ext cx="6665448" cy="237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250"/>
              <a:buFont typeface="Inter"/>
              <a:buNone/>
            </a:pPr>
            <a:r>
              <a:rPr lang="en-US" sz="1250" b="0" i="1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MindBloom — Emotional care, made accessible.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661475" y="5613003"/>
            <a:ext cx="19050" cy="544909"/>
          </a:xfrm>
          <a:prstGeom prst="roundRect">
            <a:avLst>
              <a:gd name="adj" fmla="val 49999"/>
            </a:avLst>
          </a:prstGeom>
          <a:solidFill>
            <a:srgbClr val="E7B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4885" y="141182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Nunito Medium</vt:lpstr>
      <vt:lpstr>Inter</vt:lpstr>
      <vt:lpstr>Bricolage Grotesque SemiBold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Smruti Sanjeebani</cp:lastModifiedBy>
  <cp:revision>1</cp:revision>
  <dcterms:modified xsi:type="dcterms:W3CDTF">2026-08-10T07:11:48Z</dcterms:modified>
</cp:coreProperties>
</file>